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a Hassan Hoseini" userId="225315f05280fd57" providerId="LiveId" clId="{D3FE0DE2-3CC0-4DBD-878E-25645E5B9CB7}"/>
    <pc:docChg chg="undo custSel modSld sldOrd">
      <pc:chgData name="Taha Hassan Hoseini" userId="225315f05280fd57" providerId="LiveId" clId="{D3FE0DE2-3CC0-4DBD-878E-25645E5B9CB7}" dt="2026-06-05T17:21:35.214" v="35" actId="20577"/>
      <pc:docMkLst>
        <pc:docMk/>
      </pc:docMkLst>
      <pc:sldChg chg="modTransition">
        <pc:chgData name="Taha Hassan Hoseini" userId="225315f05280fd57" providerId="LiveId" clId="{D3FE0DE2-3CC0-4DBD-878E-25645E5B9CB7}" dt="2026-06-05T16:51:10.461" v="0"/>
        <pc:sldMkLst>
          <pc:docMk/>
          <pc:sldMk cId="3741995482" sldId="257"/>
        </pc:sldMkLst>
      </pc:sldChg>
      <pc:sldChg chg="addSp delSp modSp mod modTransition">
        <pc:chgData name="Taha Hassan Hoseini" userId="225315f05280fd57" providerId="LiveId" clId="{D3FE0DE2-3CC0-4DBD-878E-25645E5B9CB7}" dt="2026-06-05T16:54:25.453" v="22" actId="1440"/>
        <pc:sldMkLst>
          <pc:docMk/>
          <pc:sldMk cId="4157107699" sldId="258"/>
        </pc:sldMkLst>
        <pc:spChg chg="del">
          <ac:chgData name="Taha Hassan Hoseini" userId="225315f05280fd57" providerId="LiveId" clId="{D3FE0DE2-3CC0-4DBD-878E-25645E5B9CB7}" dt="2026-06-05T16:53:07.979" v="4" actId="931"/>
          <ac:spMkLst>
            <pc:docMk/>
            <pc:sldMk cId="4157107699" sldId="258"/>
            <ac:spMk id="4" creationId="{AA992024-1D8F-4E59-AD1D-B6AF22CFE757}"/>
          </ac:spMkLst>
        </pc:spChg>
        <pc:picChg chg="add mod">
          <ac:chgData name="Taha Hassan Hoseini" userId="225315f05280fd57" providerId="LiveId" clId="{D3FE0DE2-3CC0-4DBD-878E-25645E5B9CB7}" dt="2026-06-05T16:54:25.453" v="22" actId="1440"/>
          <ac:picMkLst>
            <pc:docMk/>
            <pc:sldMk cId="4157107699" sldId="258"/>
            <ac:picMk id="8" creationId="{78FD3EED-5116-49B8-9134-6320918004D3}"/>
          </ac:picMkLst>
        </pc:picChg>
      </pc:sldChg>
      <pc:sldChg chg="modTransition">
        <pc:chgData name="Taha Hassan Hoseini" userId="225315f05280fd57" providerId="LiveId" clId="{D3FE0DE2-3CC0-4DBD-878E-25645E5B9CB7}" dt="2026-06-05T16:51:15.266" v="1"/>
        <pc:sldMkLst>
          <pc:docMk/>
          <pc:sldMk cId="3245423533" sldId="259"/>
        </pc:sldMkLst>
      </pc:sldChg>
      <pc:sldChg chg="ord">
        <pc:chgData name="Taha Hassan Hoseini" userId="225315f05280fd57" providerId="LiveId" clId="{D3FE0DE2-3CC0-4DBD-878E-25645E5B9CB7}" dt="2026-06-05T16:54:36.719" v="24"/>
        <pc:sldMkLst>
          <pc:docMk/>
          <pc:sldMk cId="3962442550" sldId="261"/>
        </pc:sldMkLst>
      </pc:sldChg>
      <pc:sldChg chg="modTransition">
        <pc:chgData name="Taha Hassan Hoseini" userId="225315f05280fd57" providerId="LiveId" clId="{D3FE0DE2-3CC0-4DBD-878E-25645E5B9CB7}" dt="2026-06-05T16:51:33.862" v="2"/>
        <pc:sldMkLst>
          <pc:docMk/>
          <pc:sldMk cId="3241948441" sldId="262"/>
        </pc:sldMkLst>
      </pc:sldChg>
      <pc:sldChg chg="modSp mod">
        <pc:chgData name="Taha Hassan Hoseini" userId="225315f05280fd57" providerId="LiveId" clId="{D3FE0DE2-3CC0-4DBD-878E-25645E5B9CB7}" dt="2026-06-05T17:21:35.214" v="35" actId="20577"/>
        <pc:sldMkLst>
          <pc:docMk/>
          <pc:sldMk cId="2768795748" sldId="264"/>
        </pc:sldMkLst>
        <pc:spChg chg="mod">
          <ac:chgData name="Taha Hassan Hoseini" userId="225315f05280fd57" providerId="LiveId" clId="{D3FE0DE2-3CC0-4DBD-878E-25645E5B9CB7}" dt="2026-06-05T17:21:35.214" v="35" actId="20577"/>
          <ac:spMkLst>
            <pc:docMk/>
            <pc:sldMk cId="2768795748" sldId="264"/>
            <ac:spMk id="2" creationId="{61B32ABA-8367-41AE-8DDA-34424A4ED0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1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3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6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4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8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4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92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7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1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5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240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08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9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44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10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6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DDCEA63-4296-429E-B4DD-C382E8EB80C7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2DA018C-1BED-412C-BB84-758AFDCD4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8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927C-68F3-4019-A255-6047D3D28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3137" y="1073214"/>
            <a:ext cx="12772723" cy="2098309"/>
          </a:xfrm>
        </p:spPr>
        <p:txBody>
          <a:bodyPr>
            <a:normAutofit/>
          </a:bodyPr>
          <a:lstStyle/>
          <a:p>
            <a:r>
              <a:rPr lang="en-US" sz="8800" b="0" i="0" dirty="0">
                <a:solidFill>
                  <a:srgbClr val="0070C0"/>
                </a:solidFill>
                <a:effectLst/>
                <a:latin typeface="Bernard MT Condensed" panose="02050806060905020404" pitchFamily="18" charset="0"/>
              </a:rPr>
              <a:t>Password Security &amp; </a:t>
            </a:r>
            <a:r>
              <a:rPr lang="en-US" sz="8800" b="0" i="0" dirty="0">
                <a:solidFill>
                  <a:srgbClr val="C00000"/>
                </a:solidFill>
                <a:effectLst/>
                <a:latin typeface="Bernard MT Condensed" panose="02050806060905020404" pitchFamily="18" charset="0"/>
              </a:rPr>
              <a:t>MFA</a:t>
            </a:r>
            <a:endParaRPr lang="en-US" sz="57800" dirty="0">
              <a:solidFill>
                <a:srgbClr val="C0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2A754-CE38-40F5-9D4D-286BE4AA6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686477"/>
            <a:ext cx="9440034" cy="1722126"/>
          </a:xfrm>
        </p:spPr>
        <p:txBody>
          <a:bodyPr/>
          <a:lstStyle/>
          <a:p>
            <a:r>
              <a:rPr lang="fa-IR" sz="2800" dirty="0">
                <a:solidFill>
                  <a:srgbClr val="FFFF00"/>
                </a:solidFill>
              </a:rPr>
              <a:t>( امنیت در فضای مجازی )</a:t>
            </a:r>
          </a:p>
          <a:p>
            <a:endParaRPr lang="fa-IR" dirty="0">
              <a:solidFill>
                <a:srgbClr val="FFFF00"/>
              </a:solidFill>
            </a:endParaRPr>
          </a:p>
          <a:p>
            <a:endParaRPr lang="fa-IR" dirty="0">
              <a:solidFill>
                <a:srgbClr val="FFFF00"/>
              </a:solidFill>
            </a:endParaRPr>
          </a:p>
          <a:p>
            <a:endParaRPr lang="fa-IR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32803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B287-CF33-4211-986D-38FB84D5A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مفهوم </a:t>
            </a:r>
            <a:r>
              <a:rPr lang="en-US" dirty="0"/>
              <a:t>password Security</a:t>
            </a:r>
            <a:r>
              <a:rPr lang="fa-IR" dirty="0"/>
              <a:t> (امنیت رمز عبور)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8B3F7-7B42-40CD-AEEA-5632DF13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756" y="1732450"/>
            <a:ext cx="6483801" cy="4138962"/>
          </a:xfrm>
        </p:spPr>
        <p:txBody>
          <a:bodyPr>
            <a:normAutofit/>
          </a:bodyPr>
          <a:lstStyle/>
          <a:p>
            <a:pPr algn="r" rtl="1"/>
            <a:br>
              <a:rPr lang="fa-IR" sz="2400" dirty="0">
                <a:solidFill>
                  <a:schemeClr val="tx1"/>
                </a:solidFill>
              </a:rPr>
            </a:br>
            <a:r>
              <a:rPr lang="fa-IR" sz="2400" b="0" i="0" dirty="0">
                <a:solidFill>
                  <a:schemeClr val="tx1"/>
                </a:solidFill>
                <a:effectLst/>
                <a:latin typeface="PeydaWebFaNum"/>
              </a:rPr>
              <a:t>رمز عبور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PeydaWebFaNum"/>
              </a:rPr>
              <a:t>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PeydaWebFaNum"/>
              </a:rPr>
              <a:t>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PeydaWebFaNum"/>
              </a:rPr>
              <a:t>  password</a:t>
            </a:r>
            <a:r>
              <a:rPr lang="fa-IR" sz="2400" b="0" i="0" dirty="0">
                <a:solidFill>
                  <a:schemeClr val="tx1"/>
                </a:solidFill>
                <a:effectLst/>
                <a:latin typeface="PeydaWebFaNum"/>
              </a:rPr>
              <a:t>یک مکانیزم امنیتی پایه‌ای است که به عنوان نخستین خط دفاعی در برابر دسترسی غیرمجاز به سیستم‌ها، شبکه‌ها و اطلاعات شخصی عمل می‌کند.</a:t>
            </a:r>
            <a:endParaRPr lang="en-US" sz="2400" b="0" i="0" dirty="0">
              <a:solidFill>
                <a:schemeClr val="tx1"/>
              </a:solidFill>
              <a:effectLst/>
              <a:latin typeface="PeydaWebFaNum"/>
            </a:endParaRPr>
          </a:p>
          <a:p>
            <a:pPr algn="r" rtl="1"/>
            <a:endParaRPr lang="fa-IR" sz="2400" dirty="0">
              <a:solidFill>
                <a:schemeClr val="tx1"/>
              </a:solidFill>
              <a:effectLst/>
              <a:latin typeface="PeydaWebFaNum"/>
            </a:endParaRPr>
          </a:p>
          <a:p>
            <a:pPr marL="36900" indent="0" algn="r" rtl="1">
              <a:buNone/>
            </a:pPr>
            <a:r>
              <a:rPr lang="fa-IR" sz="2400" dirty="0">
                <a:solidFill>
                  <a:schemeClr val="tx1"/>
                </a:solidFill>
                <a:effectLst/>
                <a:latin typeface="PeydaWebFaNum"/>
              </a:rPr>
              <a:t>امنیت رمز عبور </a:t>
            </a:r>
            <a:r>
              <a:rPr lang="fa-IR" sz="2400" dirty="0">
                <a:solidFill>
                  <a:schemeClr val="accent1"/>
                </a:solidFill>
                <a:effectLst/>
                <a:latin typeface="PeydaWebFaNum"/>
              </a:rPr>
              <a:t>:</a:t>
            </a:r>
            <a:r>
              <a:rPr lang="fa-IR" sz="2400" dirty="0">
                <a:solidFill>
                  <a:schemeClr val="tx1"/>
                </a:solidFill>
                <a:effectLst/>
                <a:latin typeface="PeydaWebFaNum"/>
              </a:rPr>
              <a:t> </a:t>
            </a:r>
            <a:r>
              <a:rPr lang="fa-IR" sz="2400" dirty="0">
                <a:solidFill>
                  <a:schemeClr val="tx1"/>
                </a:solidFill>
              </a:rPr>
              <a:t>یعنی کاری کنیم که کسی نتواند بدون اجازه وارد حساب‌های ما شود . 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234C0-FE4D-4F67-9201-A5EA09C7E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79" y="1665072"/>
            <a:ext cx="4124424" cy="428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95482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D969-D4AD-486E-A6B2-EE99728E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solidFill>
                  <a:srgbClr val="FF0000"/>
                </a:solidFill>
                <a:latin typeface="Algerian" panose="04020705040A02060702" pitchFamily="82" charset="0"/>
              </a:rPr>
              <a:t>MFA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4C4F0-8D43-4A8D-9B57-0681C1B72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MFA</a:t>
            </a:r>
            <a:r>
              <a:rPr lang="en-US" sz="3200" dirty="0"/>
              <a:t> </a:t>
            </a:r>
            <a:r>
              <a:rPr lang="fa-IR" sz="3200" dirty="0"/>
              <a:t> چیست ؟ </a:t>
            </a:r>
          </a:p>
          <a:p>
            <a:pPr marL="36900" indent="0" algn="r" rtl="1">
              <a:lnSpc>
                <a:spcPct val="150000"/>
              </a:lnSpc>
              <a:buNone/>
            </a:pPr>
            <a:r>
              <a:rPr lang="fa-IR" sz="2800" dirty="0"/>
              <a:t>مخفف شده ی عبارت </a:t>
            </a:r>
            <a:r>
              <a:rPr lang="en-US" sz="2400" dirty="0"/>
              <a:t>MFA = </a:t>
            </a:r>
            <a:r>
              <a:rPr lang="en-US" sz="2400" dirty="0">
                <a:solidFill>
                  <a:srgbClr val="FFFF00"/>
                </a:solidFill>
              </a:rPr>
              <a:t>Multi-Factor Authentication</a:t>
            </a:r>
            <a:r>
              <a:rPr lang="fa-IR" sz="2400" dirty="0">
                <a:solidFill>
                  <a:srgbClr val="FFFF00"/>
                </a:solidFill>
              </a:rPr>
              <a:t> (</a:t>
            </a:r>
            <a:r>
              <a:rPr lang="fa-IR" sz="2400" b="0" i="0" dirty="0">
                <a:solidFill>
                  <a:srgbClr val="FFFF00"/>
                </a:solidFill>
                <a:effectLst/>
                <a:latin typeface="Google Sans"/>
              </a:rPr>
              <a:t>احراز هویت چندعاملی ) است </a:t>
            </a:r>
            <a:r>
              <a:rPr lang="fa-IR" sz="2400" b="0" i="0" dirty="0">
                <a:solidFill>
                  <a:schemeClr val="tx1"/>
                </a:solidFill>
                <a:effectLst/>
                <a:latin typeface="Google Sans"/>
              </a:rPr>
              <a:t>یک راهکار امنیتی است که در صورت ارائه فاکتورهای متعدد هویت کاربر را تایید می کند. در واقع در این روش علاوه بر وارد کردن نام کاربری و رمز عبور، سامانه نیاز به اعتبار دیگری برای حفط امنیت بیشتر را دارد . </a:t>
            </a:r>
          </a:p>
          <a:p>
            <a:pPr marL="36900" indent="0" algn="r" rtl="1">
              <a:lnSpc>
                <a:spcPct val="150000"/>
              </a:lnSpc>
              <a:buNone/>
            </a:pPr>
            <a:endParaRPr lang="fa-IR" sz="2400" b="0" i="0" dirty="0">
              <a:solidFill>
                <a:schemeClr val="tx1"/>
              </a:solidFill>
              <a:effectLst/>
              <a:latin typeface="Google Sans"/>
            </a:endParaRPr>
          </a:p>
          <a:p>
            <a:pPr marL="36900" indent="0" algn="r" rtl="1">
              <a:buNone/>
            </a:pPr>
            <a:endParaRPr lang="fa-IR" sz="2400" dirty="0">
              <a:solidFill>
                <a:schemeClr val="tx1"/>
              </a:solidFill>
              <a:effectLst/>
              <a:latin typeface="Google Sans"/>
            </a:endParaRPr>
          </a:p>
          <a:p>
            <a:pPr marL="36900" indent="0" algn="r" rtl="1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23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276F-770A-4752-BCBB-E2B55E40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روش های رایج در </a:t>
            </a:r>
            <a:r>
              <a:rPr lang="en-US" dirty="0">
                <a:solidFill>
                  <a:srgbClr val="FF0000"/>
                </a:solidFill>
              </a:rPr>
              <a:t>MFA</a:t>
            </a:r>
            <a:r>
              <a:rPr lang="fa-IR" dirty="0">
                <a:solidFill>
                  <a:srgbClr val="FF0000"/>
                </a:solidFill>
              </a:rPr>
              <a:t> </a:t>
            </a:r>
            <a:r>
              <a:rPr lang="fa-IR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1D922-D032-40EA-AEB2-672522058E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55452" y="1420487"/>
            <a:ext cx="7617983" cy="2741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r" defTabSz="914400" rtl="1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SMS Code</a:t>
            </a: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کد پیامکی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 algn="r" defTabSz="914400" rtl="1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Authenticator App</a:t>
            </a: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مثل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Authenticator 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یا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Authenticator </a:t>
            </a:r>
          </a:p>
          <a:p>
            <a:pPr marL="285750" indent="-285750" algn="r" defTabSz="914400" rtl="1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Code </a:t>
            </a:r>
          </a:p>
          <a:p>
            <a:pPr marL="285750" indent="-285750" algn="r" defTabSz="914400" rtl="1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Biometric</a:t>
            </a: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: ا</a:t>
            </a:r>
            <a:r>
              <a:rPr kumimoji="0" lang="ar-SA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ثر انگشت یا تشخیص چهره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a-I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E5209-307D-4CAF-8E48-657245BC6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33" y="3070459"/>
            <a:ext cx="5182205" cy="34458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0512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D3C3-E17D-4D38-9246-044AEED6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0" i="0" dirty="0">
                <a:solidFill>
                  <a:srgbClr val="C00000"/>
                </a:solidFill>
                <a:effectLst/>
                <a:latin typeface="Goudy Stout" panose="0202090407030B020401" pitchFamily="18" charset="0"/>
              </a:rPr>
              <a:t>Phishing</a:t>
            </a:r>
            <a:endParaRPr lang="en-US" sz="4800" dirty="0">
              <a:solidFill>
                <a:srgbClr val="C00000"/>
              </a:solidFill>
              <a:latin typeface="Goudy Stout" panose="0202090407030B020401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AA08-4D57-44A2-96B2-2C46D8044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r" rtl="1">
              <a:buNone/>
            </a:pPr>
            <a:r>
              <a:rPr lang="fa-IR" b="1" dirty="0">
                <a:solidFill>
                  <a:schemeClr val="tx1"/>
                </a:solidFill>
              </a:rPr>
              <a:t>مفهوم فیشینگ </a:t>
            </a:r>
            <a:r>
              <a:rPr lang="en-US" b="1" dirty="0">
                <a:solidFill>
                  <a:schemeClr val="tx1"/>
                </a:solidFill>
              </a:rPr>
              <a:t>Phishing</a:t>
            </a:r>
            <a:r>
              <a:rPr lang="fa-IR" b="1" dirty="0">
                <a:solidFill>
                  <a:schemeClr val="tx1"/>
                </a:solidFill>
              </a:rPr>
              <a:t> : </a:t>
            </a:r>
          </a:p>
          <a:p>
            <a:pPr marL="36900" indent="0" algn="r" rtl="1">
              <a:lnSpc>
                <a:spcPct val="200000"/>
              </a:lnSpc>
              <a:buNone/>
            </a:pPr>
            <a:r>
              <a:rPr lang="fa-IR" b="0" i="0" dirty="0">
                <a:solidFill>
                  <a:srgbClr val="FF0000"/>
                </a:solidFill>
                <a:effectLst/>
                <a:latin typeface="iransans"/>
              </a:rPr>
              <a:t>فیشینگ نوعی حمله سایبری است که در آن مهاجم با فریب افراد از طریق وب‌سایت‌های جعلی، ایمیل‌ها یا پیام‌های شبکه‌های اجتماعی، سعی می‌کند اطلاعات حساس آن‌ها مثل </a:t>
            </a:r>
            <a:r>
              <a:rPr lang="fa-IR" b="0" i="0" u="sng" dirty="0">
                <a:solidFill>
                  <a:srgbClr val="FFC000"/>
                </a:solidFill>
                <a:effectLst/>
                <a:latin typeface="iransans"/>
              </a:rPr>
              <a:t>رمز عبور </a:t>
            </a:r>
            <a:r>
              <a:rPr lang="fa-IR" b="0" i="0" dirty="0">
                <a:solidFill>
                  <a:srgbClr val="FF0000"/>
                </a:solidFill>
                <a:effectLst/>
                <a:latin typeface="iransans"/>
              </a:rPr>
              <a:t>یا </a:t>
            </a:r>
            <a:r>
              <a:rPr lang="fa-IR" b="0" i="0" u="sng" dirty="0">
                <a:solidFill>
                  <a:srgbClr val="FFC000"/>
                </a:solidFill>
                <a:effectLst/>
                <a:latin typeface="iransans"/>
              </a:rPr>
              <a:t>داده‌های مالی </a:t>
            </a:r>
            <a:r>
              <a:rPr lang="fa-IR" b="0" i="0" dirty="0">
                <a:solidFill>
                  <a:srgbClr val="FF0000"/>
                </a:solidFill>
                <a:effectLst/>
                <a:latin typeface="iransans"/>
              </a:rPr>
              <a:t>را سرقت کند 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endParaRPr lang="fa-IR" dirty="0">
              <a:solidFill>
                <a:schemeClr val="tx1"/>
              </a:solidFill>
              <a:effectLst/>
              <a:latin typeface="iran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541DC3-8419-4AE2-AA81-E20935E930A3}"/>
              </a:ext>
            </a:extLst>
          </p:cNvPr>
          <p:cNvSpPr/>
          <p:nvPr/>
        </p:nvSpPr>
        <p:spPr>
          <a:xfrm>
            <a:off x="2098307" y="1182371"/>
            <a:ext cx="726707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i="0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Google Sans"/>
              </a:rPr>
              <a:t>Phishing</a:t>
            </a:r>
            <a:endParaRPr lang="en-US" sz="54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7A4F7-E64F-4FEC-A2E2-903D01347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313" y="3761824"/>
            <a:ext cx="2752725" cy="16573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2442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ABAF-80A2-4D93-BD28-7FFE3E4B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81575"/>
            <a:ext cx="10353762" cy="970450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b="1" dirty="0">
                <a:solidFill>
                  <a:schemeClr val="tx1"/>
                </a:solidFill>
                <a:effectLst/>
                <a:latin typeface="iransans"/>
              </a:rPr>
              <a:t>مراحل معمول حمله فیشینگ : </a:t>
            </a:r>
            <a:br>
              <a:rPr lang="fa-IR" b="1" dirty="0">
                <a:solidFill>
                  <a:schemeClr val="tx1"/>
                </a:solidFill>
                <a:effectLst/>
                <a:latin typeface="iran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FCEB2-DEE1-456F-9435-86EAF764D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تهیه طعمه: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طراحی ایمیل/پیامک یا صفحه وبی که شبیه یک مرجع معتبر باشد.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پخش طعمه: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ارسال انبوه ایمیل، پیامک یا قرار دادن لینک در شبکه‌های اجتماعی و ربات‌ها</a:t>
            </a:r>
            <a:endParaRPr lang="fa-IR" b="1" i="0" dirty="0">
              <a:solidFill>
                <a:srgbClr val="00B0F0"/>
              </a:solidFill>
              <a:effectLst/>
              <a:latin typeface="iransans"/>
            </a:endParaRP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جذب کلیک: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کاربر روی لینک کلیک می‌کند یا فایل پیوست را باز می‌کند.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هدایت به صفحه جعلی: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کاربر به صفحه‌ای که ظاهر قانونی دارد منتقل می‌شود.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درخواست اطلاعات: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فرم ورود یا پرداخت جعلی از کاربر اطلاعات حساس می‌طلبد.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r>
              <a:rPr lang="fa-IR" b="1" i="0" dirty="0">
                <a:solidFill>
                  <a:srgbClr val="FF0000"/>
                </a:solidFill>
                <a:effectLst/>
                <a:latin typeface="yekan-bakh"/>
              </a:rPr>
              <a:t>سو ‌استفاده:</a:t>
            </a:r>
            <a:r>
              <a:rPr lang="fa-IR" b="0" i="0" dirty="0">
                <a:solidFill>
                  <a:srgbClr val="FF0000"/>
                </a:solidFill>
                <a:effectLst/>
                <a:latin typeface="yekan-bakh"/>
              </a:rPr>
              <a:t> </a:t>
            </a:r>
            <a:r>
              <a:rPr lang="fa-IR" b="0" i="0" dirty="0">
                <a:solidFill>
                  <a:srgbClr val="00B0F0"/>
                </a:solidFill>
                <a:effectLst/>
                <a:latin typeface="yekan-bakh"/>
              </a:rPr>
              <a:t>مهاجم اطلاعات را برای سرقت مالی، سرقت هویت یا حملات بعدی استفاده می‌کند.</a:t>
            </a:r>
          </a:p>
          <a:p>
            <a:pPr marL="494100" indent="-457200" algn="r" rtl="1">
              <a:lnSpc>
                <a:spcPct val="150000"/>
              </a:lnSpc>
              <a:buFont typeface="+mj-lt"/>
              <a:buAutoNum type="arabicPeriod"/>
            </a:pPr>
            <a:endParaRPr lang="fa-IR" b="0" i="0" dirty="0">
              <a:solidFill>
                <a:srgbClr val="00B0F0"/>
              </a:solidFill>
              <a:effectLst/>
              <a:latin typeface="yekan-bakh"/>
            </a:endParaRPr>
          </a:p>
          <a:p>
            <a:pPr marL="36900" indent="0" algn="r" rtl="1">
              <a:buNone/>
            </a:pP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948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1FE0-F494-4847-9998-73BDCC43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chemeClr val="tx1"/>
                </a:solidFill>
                <a:latin typeface="Vazirmatn"/>
                <a:ea typeface="Vazirmatn"/>
                <a:cs typeface="Vazirmatn"/>
              </a:rPr>
              <a:t>اهمیت این موضوع :‌</a:t>
            </a:r>
            <a:br>
              <a:rPr lang="fa-IR" sz="4000" b="1" dirty="0">
                <a:solidFill>
                  <a:schemeClr val="tx1"/>
                </a:solidFill>
                <a:latin typeface="Vazirmatn"/>
                <a:ea typeface="Vazirmatn"/>
                <a:cs typeface="Vazirmatn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32035-484A-458B-8F23-08CF2B03B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FD3EED-5116-49B8-9134-6320918004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42173"/>
            <a:ext cx="5082744" cy="41388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139E74-8BC1-4660-9A1F-0B85FBE30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786" y="1243761"/>
            <a:ext cx="4895330" cy="1472665"/>
          </a:xfrm>
        </p:spPr>
        <p:txBody>
          <a:bodyPr/>
          <a:lstStyle/>
          <a:p>
            <a:pPr algn="r" rtl="1"/>
            <a:r>
              <a:rPr lang="fa-IR" b="1" dirty="0"/>
              <a:t>بیشتر </a:t>
            </a:r>
            <a:r>
              <a:rPr lang="fa-IR" b="1" dirty="0">
                <a:solidFill>
                  <a:schemeClr val="accent1"/>
                </a:solidFill>
              </a:rPr>
              <a:t>هک شدن‌ها </a:t>
            </a:r>
            <a:r>
              <a:rPr lang="fa-IR" b="1" dirty="0"/>
              <a:t>از این راه‌ها اتفاق می‌افته</a:t>
            </a:r>
            <a:r>
              <a:rPr lang="en-US" b="1" dirty="0"/>
              <a:t> </a:t>
            </a:r>
            <a:r>
              <a:rPr lang="fa-IR" b="1" dirty="0"/>
              <a:t>:</a:t>
            </a:r>
          </a:p>
          <a:p>
            <a:pPr algn="r" rtl="1"/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F9BFD-E342-437A-88EF-2AB9538EB8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fa-IR" sz="2800" dirty="0">
                <a:solidFill>
                  <a:srgbClr val="FF0000"/>
                </a:solidFill>
              </a:rPr>
              <a:t>رمز عبور ضعیف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800" dirty="0">
                <a:solidFill>
                  <a:srgbClr val="FFC000"/>
                </a:solidFill>
              </a:rPr>
              <a:t>استفاده از یک رمز برای چند سایت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800" dirty="0">
                <a:solidFill>
                  <a:srgbClr val="00B050"/>
                </a:solidFill>
              </a:rPr>
              <a:t>لو رفتن رمز در سایت‌های فیشینگ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800" dirty="0">
                <a:solidFill>
                  <a:srgbClr val="0070C0"/>
                </a:solidFill>
              </a:rPr>
              <a:t>نداشتن MFA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07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8E6A-DB22-4073-8BED-D6BDF3E3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نکات </a:t>
            </a:r>
            <a:r>
              <a:rPr lang="fa-IR" dirty="0">
                <a:solidFill>
                  <a:srgbClr val="FFFF00"/>
                </a:solidFill>
              </a:rPr>
              <a:t>طلایی</a:t>
            </a:r>
            <a:r>
              <a:rPr lang="fa-IR" dirty="0"/>
              <a:t> برای امنیت بیشتر: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CB6E-0387-4A4A-8884-4319279B5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 algn="r" rtl="1">
              <a:buClr>
                <a:srgbClr val="FF0000"/>
              </a:buClr>
              <a:buSzPct val="75000"/>
              <a:buFont typeface="+mj-lt"/>
              <a:buAutoNum type="arabicPeriod"/>
            </a:pPr>
            <a:r>
              <a:rPr lang="fa-IR" b="1" dirty="0"/>
              <a:t>رمز جدا </a:t>
            </a:r>
            <a:r>
              <a:rPr lang="fa-IR" dirty="0"/>
              <a:t>برای هر سایت</a:t>
            </a:r>
          </a:p>
          <a:p>
            <a:pPr marL="494100" indent="-457200" algn="r" rtl="1">
              <a:buClr>
                <a:srgbClr val="FF0000"/>
              </a:buClr>
              <a:buSzPct val="75000"/>
              <a:buFont typeface="+mj-lt"/>
              <a:buAutoNum type="arabicPeriod"/>
            </a:pPr>
            <a:r>
              <a:rPr lang="fa-IR" dirty="0"/>
              <a:t>MFA فعال </a:t>
            </a:r>
          </a:p>
          <a:p>
            <a:pPr marL="494100" indent="-457200" algn="r" rtl="1">
              <a:buClr>
                <a:srgbClr val="FF0000"/>
              </a:buClr>
              <a:buSzPct val="75000"/>
              <a:buFont typeface="+mj-lt"/>
              <a:buAutoNum type="arabicPeriod"/>
            </a:pPr>
            <a:r>
              <a:rPr lang="fa-IR" dirty="0"/>
              <a:t>به اشتراک نگذاشتن رمز ها </a:t>
            </a:r>
          </a:p>
          <a:p>
            <a:pPr marL="494100" indent="-457200" algn="r" rtl="1">
              <a:buClr>
                <a:srgbClr val="FF0000"/>
              </a:buClr>
              <a:buSzPct val="75000"/>
              <a:buFont typeface="+mj-lt"/>
              <a:buAutoNum type="arabicPeriod"/>
            </a:pPr>
            <a:r>
              <a:rPr lang="fa-IR" dirty="0"/>
              <a:t>آپدیت رمز های تکراری </a:t>
            </a:r>
          </a:p>
          <a:p>
            <a:pPr marL="494100" indent="-457200" algn="r" rtl="1">
              <a:buClr>
                <a:srgbClr val="FF0000"/>
              </a:buClr>
              <a:buSzPct val="75000"/>
              <a:buFont typeface="+mj-lt"/>
              <a:buAutoNum type="arabicPeriod"/>
            </a:pPr>
            <a:endParaRPr lang="fa-IR" dirty="0"/>
          </a:p>
          <a:p>
            <a:pPr marL="36900" indent="0" algn="r" rtl="1">
              <a:buClr>
                <a:srgbClr val="FF0000"/>
              </a:buClr>
              <a:buSzPct val="75000"/>
              <a:buNone/>
            </a:pPr>
            <a:r>
              <a:rPr lang="fa-IR" dirty="0"/>
              <a:t>نمومه یک رمز غلط        : </a:t>
            </a:r>
            <a:r>
              <a:rPr lang="en-US" dirty="0"/>
              <a:t>       </a:t>
            </a:r>
            <a:r>
              <a:rPr lang="fa-IR" dirty="0"/>
              <a:t>  						نمونه یک رمز امن </a:t>
            </a:r>
            <a:r>
              <a:rPr lang="en-US" dirty="0"/>
              <a:t>✅</a:t>
            </a:r>
            <a:r>
              <a:rPr lang="fa-IR" dirty="0"/>
              <a:t> : </a:t>
            </a:r>
          </a:p>
          <a:p>
            <a:pPr marL="36900" indent="0" algn="r" rtl="1">
              <a:buClr>
                <a:srgbClr val="FF0000"/>
              </a:buClr>
              <a:buSzPct val="75000"/>
              <a:buNone/>
            </a:pPr>
            <a:r>
              <a:rPr lang="en-US" dirty="0"/>
              <a:t>Ali 1234 </a:t>
            </a:r>
            <a:r>
              <a:rPr lang="fa-IR" dirty="0"/>
              <a:t>										</a:t>
            </a:r>
            <a:r>
              <a:rPr lang="en-US" dirty="0"/>
              <a:t> M@hdi#2026!Safe</a:t>
            </a:r>
          </a:p>
          <a:p>
            <a:pPr marL="36900" indent="0" algn="r" rtl="1">
              <a:buClr>
                <a:srgbClr val="FF0000"/>
              </a:buClr>
              <a:buSzPct val="75000"/>
              <a:buNone/>
            </a:pPr>
            <a:r>
              <a:rPr lang="en-US" dirty="0"/>
              <a:t>1385 Mohamad									T@aha1234!0</a:t>
            </a:r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64E53209-4B67-425A-A16D-1DFED770AA87}"/>
              </a:ext>
            </a:extLst>
          </p:cNvPr>
          <p:cNvSpPr/>
          <p:nvPr/>
        </p:nvSpPr>
        <p:spPr>
          <a:xfrm>
            <a:off x="8980370" y="3946358"/>
            <a:ext cx="433137" cy="33688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DA083996-5ABA-484A-AAA2-ADEC544D4B2F}"/>
              </a:ext>
            </a:extLst>
          </p:cNvPr>
          <p:cNvSpPr/>
          <p:nvPr/>
        </p:nvSpPr>
        <p:spPr>
          <a:xfrm>
            <a:off x="6516303" y="4283242"/>
            <a:ext cx="1645920" cy="616017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80D44-280B-4BF5-87FD-CA47514BF4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  <a14:imgEffect>
                      <a14:sharpenSoften amount="-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3" y="1066800"/>
            <a:ext cx="3648476" cy="190662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42971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2ABA-8367-41AE-8DDA-34424A4ED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11" y="611204"/>
            <a:ext cx="9440034" cy="1201650"/>
          </a:xfrm>
        </p:spPr>
        <p:txBody>
          <a:bodyPr>
            <a:normAutofit/>
          </a:bodyPr>
          <a:lstStyle/>
          <a:p>
            <a:r>
              <a:rPr lang="fa-IR" sz="4800" dirty="0">
                <a:solidFill>
                  <a:schemeClr val="tx1">
                    <a:lumMod val="65000"/>
                  </a:schemeClr>
                </a:solidFill>
              </a:rPr>
              <a:t>با تشکر از حُسن توجه شما</a:t>
            </a:r>
            <a:endParaRPr lang="en-US" sz="4800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1A6FE-B866-487F-91D9-461792FD7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439" y="2098307"/>
            <a:ext cx="9440034" cy="3830855"/>
          </a:xfrm>
        </p:spPr>
        <p:txBody>
          <a:bodyPr>
            <a:normAutofit fontScale="92500" lnSpcReduction="20000"/>
          </a:bodyPr>
          <a:lstStyle/>
          <a:p>
            <a:pPr rtl="1"/>
            <a:r>
              <a:rPr lang="fa-IR" sz="3600" dirty="0">
                <a:solidFill>
                  <a:schemeClr val="tx1">
                    <a:lumMod val="65000"/>
                  </a:schemeClr>
                </a:solidFill>
              </a:rPr>
              <a:t>ارائه </a:t>
            </a:r>
            <a:r>
              <a:rPr lang="fa-IR" sz="3600" b="1" dirty="0">
                <a:solidFill>
                  <a:schemeClr val="tx1">
                    <a:lumMod val="65000"/>
                  </a:schemeClr>
                </a:solidFill>
              </a:rPr>
              <a:t>طاها حسن حسینی</a:t>
            </a:r>
          </a:p>
          <a:p>
            <a:pPr algn="l" rtl="1"/>
            <a:br>
              <a:rPr lang="fa-IR" sz="2800" b="1" dirty="0">
                <a:solidFill>
                  <a:schemeClr val="tx1">
                    <a:lumMod val="65000"/>
                  </a:schemeClr>
                </a:solidFill>
              </a:rPr>
            </a:br>
            <a:br>
              <a:rPr lang="fa-IR" sz="2800" b="1" dirty="0">
                <a:solidFill>
                  <a:schemeClr val="tx1">
                    <a:lumMod val="65000"/>
                  </a:schemeClr>
                </a:solidFill>
              </a:rPr>
            </a:br>
            <a:br>
              <a:rPr lang="fa-IR" sz="2800" b="1" dirty="0">
                <a:solidFill>
                  <a:schemeClr val="tx1">
                    <a:lumMod val="65000"/>
                  </a:schemeClr>
                </a:solidFill>
              </a:rPr>
            </a:br>
            <a:br>
              <a:rPr lang="fa-IR" sz="2800" b="1" dirty="0">
                <a:solidFill>
                  <a:schemeClr val="tx1">
                    <a:lumMod val="65000"/>
                  </a:schemeClr>
                </a:solidFill>
              </a:rPr>
            </a:br>
            <a:br>
              <a:rPr lang="fa-IR" sz="2800" b="1" dirty="0">
                <a:solidFill>
                  <a:schemeClr val="tx1">
                    <a:lumMod val="65000"/>
                  </a:schemeClr>
                </a:solidFill>
              </a:rPr>
            </a:br>
            <a:endParaRPr lang="fa-IR" sz="2800" b="1" dirty="0">
              <a:solidFill>
                <a:schemeClr val="tx1">
                  <a:lumMod val="65000"/>
                </a:schemeClr>
              </a:solidFill>
            </a:endParaRPr>
          </a:p>
          <a:p>
            <a:pPr rtl="1"/>
            <a:r>
              <a:rPr lang="fa-IR" sz="8000" b="1" u="sng" dirty="0">
                <a:solidFill>
                  <a:schemeClr val="tx1">
                    <a:lumMod val="95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پایان</a:t>
            </a:r>
            <a:r>
              <a:rPr lang="fa-IR" sz="4800" b="1" dirty="0">
                <a:solidFill>
                  <a:schemeClr val="tx1">
                    <a:lumMod val="65000"/>
                  </a:schemeClr>
                </a:solidFill>
              </a:rPr>
              <a:t> </a:t>
            </a:r>
            <a:endParaRPr lang="en-US" sz="4800" b="1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795748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164</TotalTime>
  <Words>428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Algerian</vt:lpstr>
      <vt:lpstr>Andalus</vt:lpstr>
      <vt:lpstr>Arial</vt:lpstr>
      <vt:lpstr>Bernard MT Condensed</vt:lpstr>
      <vt:lpstr>Calisto MT</vt:lpstr>
      <vt:lpstr>Google Sans</vt:lpstr>
      <vt:lpstr>Goudy Stout</vt:lpstr>
      <vt:lpstr>iransans</vt:lpstr>
      <vt:lpstr>PeydaWebFaNum</vt:lpstr>
      <vt:lpstr>Vazirmatn</vt:lpstr>
      <vt:lpstr>Wingdings 2</vt:lpstr>
      <vt:lpstr>yekan-bakh</vt:lpstr>
      <vt:lpstr>Slate</vt:lpstr>
      <vt:lpstr>Password Security &amp; MFA</vt:lpstr>
      <vt:lpstr>مفهوم password Security (امنیت رمز عبور)</vt:lpstr>
      <vt:lpstr>MFA </vt:lpstr>
      <vt:lpstr>روش های رایج در MFA :</vt:lpstr>
      <vt:lpstr>Phishing</vt:lpstr>
      <vt:lpstr>مراحل معمول حمله فیشینگ :  </vt:lpstr>
      <vt:lpstr>اهمیت این موضوع :‌ </vt:lpstr>
      <vt:lpstr>نکات طلایی برای امنیت بیشتر:</vt:lpstr>
      <vt:lpstr>با تشکر از حُسن توجه شما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Security &amp; MFA</dc:title>
  <dc:creator>Taha Hassan Hoseini</dc:creator>
  <cp:lastModifiedBy>Taha Hassan Hoseini</cp:lastModifiedBy>
  <cp:revision>15</cp:revision>
  <dcterms:created xsi:type="dcterms:W3CDTF">2026-06-04T18:59:12Z</dcterms:created>
  <dcterms:modified xsi:type="dcterms:W3CDTF">2026-06-05T17:45:00Z</dcterms:modified>
</cp:coreProperties>
</file>